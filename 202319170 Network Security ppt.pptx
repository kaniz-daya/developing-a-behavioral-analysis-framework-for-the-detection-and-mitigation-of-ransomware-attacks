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Octosquares Compressed" charset="1" panose="02010001040000080307"/>
      <p:regular r:id="rId22"/>
    </p:embeddedFont>
    <p:embeddedFont>
      <p:font typeface="Canva Sans" charset="1" panose="020B0503030501040103"/>
      <p:regular r:id="rId23"/>
    </p:embeddedFont>
    <p:embeddedFont>
      <p:font typeface="Quicksand Medium" charset="1" panose="00000600000000000000"/>
      <p:regular r:id="rId24"/>
    </p:embeddedFont>
    <p:embeddedFont>
      <p:font typeface="Open Sans"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dl.acm.org/doi/abs/10.1155/2022/1424638" TargetMode="External" Type="http://schemas.openxmlformats.org/officeDocument/2006/relationships/hyperlink"/><Relationship Id="rId6" Target="https://link.springer.com/chapter/10.1007/978-3-030-91424-0_1" TargetMode="External" Type="http://schemas.openxmlformats.org/officeDocument/2006/relationships/hyperlink"/><Relationship Id="rId7" Target="https://www.iieta.org/journals/ijsse/paper/10.18280/ijsse.110304" TargetMode="External" Type="http://schemas.openxmlformats.org/officeDocument/2006/relationships/hyperlink"/><Relationship Id="rId8" Target="https://ieeexplore.ieee.org/document/8984540" TargetMode="External" Type="http://schemas.openxmlformats.org/officeDocument/2006/relationships/hyperlink"/><Relationship Id="rId9" Target="https://www.researchgate.net/publication/350311509_Fight_Virus_Like_a_Virus_A_New_Defense_Method_Against_File-Encrypting_Ransomware/references"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https://colab.research.google.com/drive/1cc5QfY_e1QvkR55P89Xi4nUYstxgh_mT?usp=sharing" TargetMode="External" Type="http://schemas.openxmlformats.org/officeDocument/2006/relationships/hyperlink"/><Relationship Id="rId5" Target="https://www.kaggle.com/datasets/amdj3dax/ransomware-detection-data-set"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43386"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534897" y="3450546"/>
            <a:ext cx="13445386" cy="1402395"/>
          </a:xfrm>
          <a:prstGeom prst="rect">
            <a:avLst/>
          </a:prstGeom>
        </p:spPr>
        <p:txBody>
          <a:bodyPr anchor="t" rtlCol="false" tIns="0" lIns="0" bIns="0" rIns="0">
            <a:spAutoFit/>
          </a:bodyPr>
          <a:lstStyle/>
          <a:p>
            <a:pPr algn="ctr">
              <a:lnSpc>
                <a:spcPts val="5652"/>
              </a:lnSpc>
              <a:spcBef>
                <a:spcPct val="0"/>
              </a:spcBef>
            </a:pPr>
            <a:r>
              <a:rPr lang="en-US" sz="4037">
                <a:solidFill>
                  <a:srgbClr val="FFFFFF"/>
                </a:solidFill>
                <a:latin typeface="TT Octosquares Compressed"/>
                <a:ea typeface="TT Octosquares Compressed"/>
                <a:cs typeface="TT Octosquares Compressed"/>
                <a:sym typeface="TT Octosquares Compressed"/>
              </a:rPr>
              <a:t>DEVELOPING A BEHAVIORAL ANALYSIS FRAMEWORK FOR THE DETECTION AND MITIGATION OF RANSOMWARE ATTACKS</a:t>
            </a:r>
          </a:p>
        </p:txBody>
      </p:sp>
      <p:sp>
        <p:nvSpPr>
          <p:cNvPr name="Freeform 8" id="8"/>
          <p:cNvSpPr/>
          <p:nvPr/>
        </p:nvSpPr>
        <p:spPr>
          <a:xfrm flipH="false" flipV="false" rot="0">
            <a:off x="2105520"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390081"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10800000">
            <a:off x="14226319"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10800000">
            <a:off x="15323726"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16268205"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134833" y="6691091"/>
            <a:ext cx="6734100" cy="541934"/>
          </a:xfrm>
          <a:prstGeom prst="rect">
            <a:avLst/>
          </a:prstGeom>
        </p:spPr>
        <p:txBody>
          <a:bodyPr anchor="t" rtlCol="false" tIns="0" lIns="0" bIns="0" rIns="0">
            <a:spAutoFit/>
          </a:bodyPr>
          <a:lstStyle/>
          <a:p>
            <a:pPr algn="ctr">
              <a:lnSpc>
                <a:spcPts val="4454"/>
              </a:lnSpc>
              <a:spcBef>
                <a:spcPct val="0"/>
              </a:spcBef>
            </a:pPr>
            <a:r>
              <a:rPr lang="en-US" sz="3181">
                <a:solidFill>
                  <a:srgbClr val="FFFFFF"/>
                </a:solidFill>
                <a:latin typeface="Canva Sans"/>
                <a:ea typeface="Canva Sans"/>
                <a:cs typeface="Canva Sans"/>
                <a:sym typeface="Canva Sans"/>
              </a:rPr>
              <a:t>Presentation by Kaniz Fatima Daya</a:t>
            </a:r>
          </a:p>
        </p:txBody>
      </p:sp>
      <p:sp>
        <p:nvSpPr>
          <p:cNvPr name="TextBox 14" id="14"/>
          <p:cNvSpPr txBox="true"/>
          <p:nvPr/>
        </p:nvSpPr>
        <p:spPr>
          <a:xfrm rot="0">
            <a:off x="6937088" y="962025"/>
            <a:ext cx="4641004" cy="523875"/>
          </a:xfrm>
          <a:prstGeom prst="rect">
            <a:avLst/>
          </a:prstGeom>
        </p:spPr>
        <p:txBody>
          <a:bodyPr anchor="t" rtlCol="false" tIns="0" lIns="0" bIns="0" rIns="0">
            <a:spAutoFit/>
          </a:bodyPr>
          <a:lstStyle/>
          <a:p>
            <a:pPr algn="l">
              <a:lnSpc>
                <a:spcPts val="4200"/>
              </a:lnSpc>
            </a:pPr>
            <a:r>
              <a:rPr lang="en-US" sz="3000" b="true">
                <a:solidFill>
                  <a:srgbClr val="FFFFFF"/>
                </a:solidFill>
                <a:latin typeface="Quicksand Medium"/>
                <a:ea typeface="Quicksand Medium"/>
                <a:cs typeface="Quicksand Medium"/>
                <a:sym typeface="Quicksand Medium"/>
              </a:rPr>
              <a:t>SEC521 Network Security</a:t>
            </a:r>
          </a:p>
        </p:txBody>
      </p:sp>
      <p:sp>
        <p:nvSpPr>
          <p:cNvPr name="TextBox 15" id="15"/>
          <p:cNvSpPr txBox="true"/>
          <p:nvPr/>
        </p:nvSpPr>
        <p:spPr>
          <a:xfrm rot="0">
            <a:off x="7537300" y="1815722"/>
            <a:ext cx="2838181" cy="406050"/>
          </a:xfrm>
          <a:prstGeom prst="rect">
            <a:avLst/>
          </a:prstGeom>
        </p:spPr>
        <p:txBody>
          <a:bodyPr anchor="t" rtlCol="false" tIns="0" lIns="0" bIns="0" rIns="0">
            <a:spAutoFit/>
          </a:bodyPr>
          <a:lstStyle/>
          <a:p>
            <a:pPr algn="ctr">
              <a:lnSpc>
                <a:spcPts val="3432"/>
              </a:lnSpc>
              <a:spcBef>
                <a:spcPct val="0"/>
              </a:spcBef>
            </a:pPr>
            <a:r>
              <a:rPr lang="en-US" sz="2452">
                <a:solidFill>
                  <a:srgbClr val="FFFFFF"/>
                </a:solidFill>
                <a:latin typeface="Canva Sans"/>
                <a:ea typeface="Canva Sans"/>
                <a:cs typeface="Canva Sans"/>
                <a:sym typeface="Canva Sans"/>
              </a:rPr>
              <a:t>Dr. Waleed Al-Gobi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362339" y="2914524"/>
            <a:ext cx="6509860" cy="2228976"/>
            <a:chOff x="0" y="0"/>
            <a:chExt cx="6350000" cy="2174240"/>
          </a:xfrm>
        </p:grpSpPr>
        <p:sp>
          <p:nvSpPr>
            <p:cNvPr name="Freeform 7" id="7"/>
            <p:cNvSpPr/>
            <p:nvPr/>
          </p:nvSpPr>
          <p:spPr>
            <a:xfrm flipH="false" flipV="false" rot="0">
              <a:off x="0" y="0"/>
              <a:ext cx="6350000" cy="2174240"/>
            </a:xfrm>
            <a:custGeom>
              <a:avLst/>
              <a:gdLst/>
              <a:ahLst/>
              <a:cxnLst/>
              <a:rect r="r" b="b" t="t" l="l"/>
              <a:pathLst>
                <a:path h="2174240" w="6350000">
                  <a:moveTo>
                    <a:pt x="6350000" y="0"/>
                  </a:moveTo>
                  <a:lnTo>
                    <a:pt x="6350000" y="2174240"/>
                  </a:lnTo>
                  <a:lnTo>
                    <a:pt x="647700" y="2174240"/>
                  </a:lnTo>
                  <a:lnTo>
                    <a:pt x="0" y="0"/>
                  </a:lnTo>
                  <a:close/>
                </a:path>
              </a:pathLst>
            </a:custGeom>
            <a:solidFill>
              <a:srgbClr val="12F1FF"/>
            </a:solidFill>
            <a:ln w="12700">
              <a:solidFill>
                <a:srgbClr val="000000"/>
              </a:solidFill>
            </a:ln>
          </p:spPr>
        </p:sp>
      </p:grpSp>
      <p:grpSp>
        <p:nvGrpSpPr>
          <p:cNvPr name="Group 8" id="8"/>
          <p:cNvGrpSpPr/>
          <p:nvPr/>
        </p:nvGrpSpPr>
        <p:grpSpPr>
          <a:xfrm rot="0">
            <a:off x="7189484" y="1028700"/>
            <a:ext cx="11098516" cy="3800132"/>
            <a:chOff x="0" y="0"/>
            <a:chExt cx="6350000" cy="2174240"/>
          </a:xfrm>
        </p:grpSpPr>
        <p:sp>
          <p:nvSpPr>
            <p:cNvPr name="Freeform 9" id="9"/>
            <p:cNvSpPr/>
            <p:nvPr/>
          </p:nvSpPr>
          <p:spPr>
            <a:xfrm flipH="false" flipV="false" rot="0">
              <a:off x="0" y="0"/>
              <a:ext cx="6350000" cy="2174240"/>
            </a:xfrm>
            <a:custGeom>
              <a:avLst/>
              <a:gdLst/>
              <a:ahLst/>
              <a:cxnLst/>
              <a:rect r="r" b="b" t="t" l="l"/>
              <a:pathLst>
                <a:path h="2174240" w="6350000">
                  <a:moveTo>
                    <a:pt x="6350000" y="0"/>
                  </a:moveTo>
                  <a:lnTo>
                    <a:pt x="6350000" y="2174240"/>
                  </a:lnTo>
                  <a:lnTo>
                    <a:pt x="647700" y="2174240"/>
                  </a:lnTo>
                  <a:lnTo>
                    <a:pt x="0" y="0"/>
                  </a:lnTo>
                  <a:close/>
                </a:path>
              </a:pathLst>
            </a:custGeom>
            <a:blipFill>
              <a:blip r:embed="rId3"/>
              <a:stretch>
                <a:fillRect l="0" t="-42321" r="0" b="-52260"/>
              </a:stretch>
            </a:blipFill>
          </p:spPr>
        </p:sp>
      </p:grpSp>
      <p:sp>
        <p:nvSpPr>
          <p:cNvPr name="TextBox 10" id="10"/>
          <p:cNvSpPr txBox="true"/>
          <p:nvPr/>
        </p:nvSpPr>
        <p:spPr>
          <a:xfrm rot="0">
            <a:off x="443111" y="890681"/>
            <a:ext cx="6642795" cy="1175431"/>
          </a:xfrm>
          <a:prstGeom prst="rect">
            <a:avLst/>
          </a:prstGeom>
        </p:spPr>
        <p:txBody>
          <a:bodyPr anchor="t" rtlCol="false" tIns="0" lIns="0" bIns="0" rIns="0">
            <a:spAutoFit/>
          </a:bodyPr>
          <a:lstStyle/>
          <a:p>
            <a:pPr algn="l">
              <a:lnSpc>
                <a:spcPts val="8817"/>
              </a:lnSpc>
            </a:pPr>
            <a:r>
              <a:rPr lang="en-US" sz="8560">
                <a:solidFill>
                  <a:srgbClr val="FFFFFF"/>
                </a:solidFill>
                <a:latin typeface="TT Octosquares Compressed"/>
                <a:ea typeface="TT Octosquares Compressed"/>
                <a:cs typeface="TT Octosquares Compressed"/>
                <a:sym typeface="TT Octosquares Compressed"/>
              </a:rPr>
              <a:t>TABLE OF CONTENTS</a:t>
            </a:r>
          </a:p>
        </p:txBody>
      </p:sp>
      <p:sp>
        <p:nvSpPr>
          <p:cNvPr name="Freeform 11" id="11"/>
          <p:cNvSpPr/>
          <p:nvPr/>
        </p:nvSpPr>
        <p:spPr>
          <a:xfrm flipH="false" flipV="false" rot="0">
            <a:off x="1850798" y="2399296"/>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315918" y="239929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781038" y="239929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447576" y="2304046"/>
            <a:ext cx="5681514" cy="7653790"/>
          </a:xfrm>
          <a:prstGeom prst="rect">
            <a:avLst/>
          </a:prstGeom>
        </p:spPr>
        <p:txBody>
          <a:bodyPr anchor="t" rtlCol="false" tIns="0" lIns="0" bIns="0" rIns="0">
            <a:spAutoFit/>
          </a:bodyPr>
          <a:lstStyle/>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Introduction</a:t>
            </a:r>
          </a:p>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Related Work </a:t>
            </a:r>
          </a:p>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My approach</a:t>
            </a:r>
          </a:p>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Methodology</a:t>
            </a:r>
            <a:r>
              <a:rPr lang="en-US" sz="5344">
                <a:solidFill>
                  <a:srgbClr val="FFFFFF"/>
                </a:solidFill>
                <a:latin typeface="Canva Sans"/>
                <a:ea typeface="Canva Sans"/>
                <a:cs typeface="Canva Sans"/>
                <a:sym typeface="Canva Sans"/>
              </a:rPr>
              <a:t> </a:t>
            </a:r>
          </a:p>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Result</a:t>
            </a:r>
          </a:p>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Conclusion</a:t>
            </a:r>
          </a:p>
          <a:p>
            <a:pPr algn="l" marL="1153916" indent="-576958" lvl="1">
              <a:lnSpc>
                <a:spcPts val="7482"/>
              </a:lnSpc>
              <a:buAutoNum type="arabicPeriod" startAt="1"/>
            </a:pPr>
            <a:r>
              <a:rPr lang="en-US" sz="5344">
                <a:solidFill>
                  <a:srgbClr val="FFFFFF"/>
                </a:solidFill>
                <a:latin typeface="Canva Sans"/>
                <a:ea typeface="Canva Sans"/>
                <a:cs typeface="Canva Sans"/>
                <a:sym typeface="Canva Sans"/>
              </a:rPr>
              <a:t>References</a:t>
            </a:r>
          </a:p>
          <a:p>
            <a:pPr algn="ctr">
              <a:lnSpc>
                <a:spcPts val="8742"/>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536182" y="6558060"/>
            <a:ext cx="3310410" cy="4917132"/>
            <a:chOff x="0" y="0"/>
            <a:chExt cx="4275074" cy="6350000"/>
          </a:xfrm>
        </p:grpSpPr>
        <p:sp>
          <p:nvSpPr>
            <p:cNvPr name="Freeform 7" id="7"/>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blipFill>
              <a:blip r:embed="rId3"/>
              <a:stretch>
                <a:fillRect l="-13963" t="0" r="-13963" b="0"/>
              </a:stretch>
            </a:blipFill>
          </p:spPr>
        </p:sp>
      </p:grpSp>
      <p:grpSp>
        <p:nvGrpSpPr>
          <p:cNvPr name="Group 8" id="8"/>
          <p:cNvGrpSpPr/>
          <p:nvPr/>
        </p:nvGrpSpPr>
        <p:grpSpPr>
          <a:xfrm rot="0">
            <a:off x="16191387" y="-108211"/>
            <a:ext cx="3310410" cy="4917132"/>
            <a:chOff x="0" y="0"/>
            <a:chExt cx="4275074" cy="6350000"/>
          </a:xfrm>
        </p:grpSpPr>
        <p:sp>
          <p:nvSpPr>
            <p:cNvPr name="Freeform 9" id="9"/>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solidFill>
              <a:srgbClr val="12F1FF"/>
            </a:solidFill>
            <a:ln w="12700">
              <a:solidFill>
                <a:srgbClr val="000000"/>
              </a:solidFill>
            </a:ln>
          </p:spPr>
        </p:sp>
      </p:grpSp>
      <p:sp>
        <p:nvSpPr>
          <p:cNvPr name="Freeform 10" id="10"/>
          <p:cNvSpPr/>
          <p:nvPr/>
        </p:nvSpPr>
        <p:spPr>
          <a:xfrm flipH="false" flipV="false" rot="0">
            <a:off x="10549877" y="2247308"/>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014997" y="2247308"/>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1480118" y="2247308"/>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885335" y="2746493"/>
            <a:ext cx="15306052" cy="4246036"/>
          </a:xfrm>
          <a:prstGeom prst="rect">
            <a:avLst/>
          </a:prstGeom>
        </p:spPr>
        <p:txBody>
          <a:bodyPr anchor="t" rtlCol="false" tIns="0" lIns="0" bIns="0" rIns="0">
            <a:spAutoFit/>
          </a:bodyPr>
          <a:lstStyle/>
          <a:p>
            <a:pPr algn="l">
              <a:lnSpc>
                <a:spcPts val="4899"/>
              </a:lnSpc>
              <a:spcBef>
                <a:spcPct val="0"/>
              </a:spcBef>
            </a:pPr>
            <a:r>
              <a:rPr lang="en-US" sz="3499">
                <a:solidFill>
                  <a:srgbClr val="FFFFFF"/>
                </a:solidFill>
                <a:latin typeface="Open Sans"/>
                <a:ea typeface="Open Sans"/>
                <a:cs typeface="Open Sans"/>
                <a:sym typeface="Open Sans"/>
              </a:rPr>
              <a:t>Ransomware is a type of malicious software that encrypts a victim's files, making them inaccessible until a ransom is paid, usually in cryptocurrency. It commonly enters through phishing emails or network vulnerabilities. Victims are pressured to pay to regain access to their data, though payment doesn’t guarantee decryption. This cybercrime affects individuals, businesses, and governments, leading to financial loss, operational disruption, and reputational damage.</a:t>
            </a:r>
          </a:p>
        </p:txBody>
      </p:sp>
      <p:sp>
        <p:nvSpPr>
          <p:cNvPr name="Freeform 14" id="14"/>
          <p:cNvSpPr/>
          <p:nvPr/>
        </p:nvSpPr>
        <p:spPr>
          <a:xfrm flipH="false" flipV="false" rot="0">
            <a:off x="4005923" y="7774582"/>
            <a:ext cx="10276155" cy="2043212"/>
          </a:xfrm>
          <a:custGeom>
            <a:avLst/>
            <a:gdLst/>
            <a:ahLst/>
            <a:cxnLst/>
            <a:rect r="r" b="b" t="t" l="l"/>
            <a:pathLst>
              <a:path h="2043212" w="10276155">
                <a:moveTo>
                  <a:pt x="0" y="0"/>
                </a:moveTo>
                <a:lnTo>
                  <a:pt x="10276154" y="0"/>
                </a:lnTo>
                <a:lnTo>
                  <a:pt x="10276154" y="2043212"/>
                </a:lnTo>
                <a:lnTo>
                  <a:pt x="0" y="2043212"/>
                </a:lnTo>
                <a:lnTo>
                  <a:pt x="0" y="0"/>
                </a:lnTo>
                <a:close/>
              </a:path>
            </a:pathLst>
          </a:custGeom>
          <a:blipFill>
            <a:blip r:embed="rId6"/>
            <a:stretch>
              <a:fillRect l="0" t="0" r="0" b="0"/>
            </a:stretch>
          </a:blipFill>
        </p:spPr>
      </p:sp>
      <p:sp>
        <p:nvSpPr>
          <p:cNvPr name="TextBox 15" id="15"/>
          <p:cNvSpPr txBox="true"/>
          <p:nvPr/>
        </p:nvSpPr>
        <p:spPr>
          <a:xfrm rot="0">
            <a:off x="885335" y="766024"/>
            <a:ext cx="6425611" cy="1584331"/>
          </a:xfrm>
          <a:prstGeom prst="rect">
            <a:avLst/>
          </a:prstGeom>
        </p:spPr>
        <p:txBody>
          <a:bodyPr anchor="t" rtlCol="false" tIns="0" lIns="0" bIns="0" rIns="0">
            <a:spAutoFit/>
          </a:bodyPr>
          <a:lstStyle/>
          <a:p>
            <a:pPr algn="l">
              <a:lnSpc>
                <a:spcPts val="12933"/>
              </a:lnSpc>
              <a:spcBef>
                <a:spcPct val="0"/>
              </a:spcBef>
            </a:pPr>
            <a:r>
              <a:rPr lang="en-US" sz="9237">
                <a:solidFill>
                  <a:srgbClr val="FFFFFF"/>
                </a:solidFill>
                <a:latin typeface="TT Octosquares Compressed"/>
                <a:ea typeface="TT Octosquares Compressed"/>
                <a:cs typeface="TT Octosquares Compressed"/>
                <a:sym typeface="TT Octosquares Compresse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055675" y="21175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520796" y="2117525"/>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985916" y="21175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876154" y="2117525"/>
            <a:ext cx="12698350" cy="7139336"/>
          </a:xfrm>
          <a:custGeom>
            <a:avLst/>
            <a:gdLst/>
            <a:ahLst/>
            <a:cxnLst/>
            <a:rect r="r" b="b" t="t" l="l"/>
            <a:pathLst>
              <a:path h="7139336" w="12698350">
                <a:moveTo>
                  <a:pt x="0" y="0"/>
                </a:moveTo>
                <a:lnTo>
                  <a:pt x="12698350" y="0"/>
                </a:lnTo>
                <a:lnTo>
                  <a:pt x="12698350" y="7139336"/>
                </a:lnTo>
                <a:lnTo>
                  <a:pt x="0" y="7139336"/>
                </a:lnTo>
                <a:lnTo>
                  <a:pt x="0" y="0"/>
                </a:lnTo>
                <a:close/>
              </a:path>
            </a:pathLst>
          </a:custGeom>
          <a:blipFill>
            <a:blip r:embed="rId5"/>
            <a:stretch>
              <a:fillRect l="0" t="0" r="0" b="0"/>
            </a:stretch>
          </a:blipFill>
        </p:spPr>
      </p:sp>
      <p:sp>
        <p:nvSpPr>
          <p:cNvPr name="TextBox 10" id="10"/>
          <p:cNvSpPr txBox="true"/>
          <p:nvPr/>
        </p:nvSpPr>
        <p:spPr>
          <a:xfrm rot="0">
            <a:off x="510145" y="158219"/>
            <a:ext cx="7431301" cy="1569512"/>
          </a:xfrm>
          <a:prstGeom prst="rect">
            <a:avLst/>
          </a:prstGeom>
        </p:spPr>
        <p:txBody>
          <a:bodyPr anchor="t" rtlCol="false" tIns="0" lIns="0" bIns="0" rIns="0">
            <a:spAutoFit/>
          </a:bodyPr>
          <a:lstStyle/>
          <a:p>
            <a:pPr algn="l">
              <a:lnSpc>
                <a:spcPts val="12884"/>
              </a:lnSpc>
              <a:spcBef>
                <a:spcPct val="0"/>
              </a:spcBef>
            </a:pPr>
            <a:r>
              <a:rPr lang="en-US" sz="9203">
                <a:solidFill>
                  <a:srgbClr val="FFFFFF"/>
                </a:solidFill>
                <a:latin typeface="TT Octosquares Compressed"/>
                <a:ea typeface="TT Octosquares Compressed"/>
                <a:cs typeface="TT Octosquares Compressed"/>
                <a:sym typeface="TT Octosquares Compressed"/>
              </a:rPr>
              <a:t>RELATED WORK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Freeform 2" id="2"/>
          <p:cNvSpPr/>
          <p:nvPr/>
        </p:nvSpPr>
        <p:spPr>
          <a:xfrm flipH="false" flipV="false" rot="0">
            <a:off x="2775290" y="3206328"/>
            <a:ext cx="13577582" cy="4839698"/>
          </a:xfrm>
          <a:custGeom>
            <a:avLst/>
            <a:gdLst/>
            <a:ahLst/>
            <a:cxnLst/>
            <a:rect r="r" b="b" t="t" l="l"/>
            <a:pathLst>
              <a:path h="4839698" w="13577582">
                <a:moveTo>
                  <a:pt x="0" y="0"/>
                </a:moveTo>
                <a:lnTo>
                  <a:pt x="13577582" y="0"/>
                </a:lnTo>
                <a:lnTo>
                  <a:pt x="13577582" y="4839698"/>
                </a:lnTo>
                <a:lnTo>
                  <a:pt x="0" y="4839698"/>
                </a:lnTo>
                <a:lnTo>
                  <a:pt x="0" y="0"/>
                </a:lnTo>
                <a:close/>
              </a:path>
            </a:pathLst>
          </a:custGeom>
          <a:blipFill>
            <a:blip r:embed="rId2"/>
            <a:stretch>
              <a:fillRect l="0" t="0" r="0" b="0"/>
            </a:stretch>
          </a:blipFill>
        </p:spPr>
      </p:sp>
      <p:sp>
        <p:nvSpPr>
          <p:cNvPr name="TextBox 3" id="3"/>
          <p:cNvSpPr txBox="true"/>
          <p:nvPr/>
        </p:nvSpPr>
        <p:spPr>
          <a:xfrm rot="0">
            <a:off x="666486" y="378619"/>
            <a:ext cx="7431301" cy="1566466"/>
          </a:xfrm>
          <a:prstGeom prst="rect">
            <a:avLst/>
          </a:prstGeom>
        </p:spPr>
        <p:txBody>
          <a:bodyPr anchor="t" rtlCol="false" tIns="0" lIns="0" bIns="0" rIns="0">
            <a:spAutoFit/>
          </a:bodyPr>
          <a:lstStyle/>
          <a:p>
            <a:pPr algn="l">
              <a:lnSpc>
                <a:spcPts val="12884"/>
              </a:lnSpc>
              <a:spcBef>
                <a:spcPct val="0"/>
              </a:spcBef>
            </a:pPr>
            <a:r>
              <a:rPr lang="en-US" sz="9203">
                <a:solidFill>
                  <a:srgbClr val="FFFFFF"/>
                </a:solidFill>
                <a:latin typeface="TT Octosquares Compressed"/>
                <a:ea typeface="TT Octosquares Compressed"/>
                <a:cs typeface="TT Octosquares Compressed"/>
                <a:sym typeface="TT Octosquares Compressed"/>
              </a:rPr>
              <a:t>MY APPROACH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668341" y="2309619"/>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133462" y="2309619"/>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598582" y="2309619"/>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333243" y="2587786"/>
            <a:ext cx="11621513" cy="6528940"/>
          </a:xfrm>
          <a:custGeom>
            <a:avLst/>
            <a:gdLst/>
            <a:ahLst/>
            <a:cxnLst/>
            <a:rect r="r" b="b" t="t" l="l"/>
            <a:pathLst>
              <a:path h="6528940" w="11621513">
                <a:moveTo>
                  <a:pt x="0" y="0"/>
                </a:moveTo>
                <a:lnTo>
                  <a:pt x="11621514" y="0"/>
                </a:lnTo>
                <a:lnTo>
                  <a:pt x="11621514" y="6528940"/>
                </a:lnTo>
                <a:lnTo>
                  <a:pt x="0" y="6528940"/>
                </a:lnTo>
                <a:lnTo>
                  <a:pt x="0" y="0"/>
                </a:lnTo>
                <a:close/>
              </a:path>
            </a:pathLst>
          </a:custGeom>
          <a:blipFill>
            <a:blip r:embed="rId5"/>
            <a:stretch>
              <a:fillRect l="-4369" t="-3333" r="-9706" b="-10829"/>
            </a:stretch>
          </a:blipFill>
        </p:spPr>
      </p:sp>
      <p:sp>
        <p:nvSpPr>
          <p:cNvPr name="TextBox 10" id="10"/>
          <p:cNvSpPr txBox="true"/>
          <p:nvPr/>
        </p:nvSpPr>
        <p:spPr>
          <a:xfrm rot="0">
            <a:off x="1028700" y="837859"/>
            <a:ext cx="5630748"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METHODOLOGY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Freeform 2" id="2"/>
          <p:cNvSpPr/>
          <p:nvPr/>
        </p:nvSpPr>
        <p:spPr>
          <a:xfrm flipH="false" flipV="false" rot="0">
            <a:off x="2790460" y="4073357"/>
            <a:ext cx="12350304" cy="4816102"/>
          </a:xfrm>
          <a:custGeom>
            <a:avLst/>
            <a:gdLst/>
            <a:ahLst/>
            <a:cxnLst/>
            <a:rect r="r" b="b" t="t" l="l"/>
            <a:pathLst>
              <a:path h="4816102" w="12350304">
                <a:moveTo>
                  <a:pt x="0" y="0"/>
                </a:moveTo>
                <a:lnTo>
                  <a:pt x="12350304" y="0"/>
                </a:lnTo>
                <a:lnTo>
                  <a:pt x="12350304" y="4816102"/>
                </a:lnTo>
                <a:lnTo>
                  <a:pt x="0" y="4816102"/>
                </a:lnTo>
                <a:lnTo>
                  <a:pt x="0" y="0"/>
                </a:lnTo>
                <a:close/>
              </a:path>
            </a:pathLst>
          </a:custGeom>
          <a:blipFill>
            <a:blip r:embed="rId2"/>
            <a:stretch>
              <a:fillRect l="0" t="0" r="0" b="0"/>
            </a:stretch>
          </a:blipFill>
        </p:spPr>
      </p:sp>
      <p:sp>
        <p:nvSpPr>
          <p:cNvPr name="TextBox 3" id="3"/>
          <p:cNvSpPr txBox="true"/>
          <p:nvPr/>
        </p:nvSpPr>
        <p:spPr>
          <a:xfrm rot="0">
            <a:off x="1028700" y="837859"/>
            <a:ext cx="5630748"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METHODOLOGY</a:t>
            </a:r>
          </a:p>
        </p:txBody>
      </p:sp>
      <p:sp>
        <p:nvSpPr>
          <p:cNvPr name="TextBox 4" id="4"/>
          <p:cNvSpPr txBox="true"/>
          <p:nvPr/>
        </p:nvSpPr>
        <p:spPr>
          <a:xfrm rot="0">
            <a:off x="-544706" y="2755602"/>
            <a:ext cx="6670332" cy="786242"/>
          </a:xfrm>
          <a:prstGeom prst="rect">
            <a:avLst/>
          </a:prstGeom>
        </p:spPr>
        <p:txBody>
          <a:bodyPr anchor="t" rtlCol="false" tIns="0" lIns="0" bIns="0" rIns="0">
            <a:spAutoFit/>
          </a:bodyPr>
          <a:lstStyle/>
          <a:p>
            <a:pPr algn="ctr">
              <a:lnSpc>
                <a:spcPts val="6473"/>
              </a:lnSpc>
              <a:spcBef>
                <a:spcPct val="0"/>
              </a:spcBef>
            </a:pPr>
            <a:r>
              <a:rPr lang="en-US" sz="4623">
                <a:solidFill>
                  <a:srgbClr val="FFFFFF"/>
                </a:solidFill>
                <a:latin typeface="TT Octosquares Compressed"/>
                <a:ea typeface="TT Octosquares Compressed"/>
                <a:cs typeface="TT Octosquares Compressed"/>
                <a:sym typeface="TT Octosquares Compressed"/>
              </a:rPr>
              <a:t>THE DATASET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675372"/>
            <a:ext cx="13226396" cy="3846958"/>
          </a:xfrm>
          <a:custGeom>
            <a:avLst/>
            <a:gdLst/>
            <a:ahLst/>
            <a:cxnLst/>
            <a:rect r="r" b="b" t="t" l="l"/>
            <a:pathLst>
              <a:path h="3846958" w="13226396">
                <a:moveTo>
                  <a:pt x="0" y="0"/>
                </a:moveTo>
                <a:lnTo>
                  <a:pt x="13226396" y="0"/>
                </a:lnTo>
                <a:lnTo>
                  <a:pt x="13226396" y="3846958"/>
                </a:lnTo>
                <a:lnTo>
                  <a:pt x="0" y="3846958"/>
                </a:lnTo>
                <a:lnTo>
                  <a:pt x="0" y="0"/>
                </a:lnTo>
                <a:close/>
              </a:path>
            </a:pathLst>
          </a:custGeom>
          <a:blipFill>
            <a:blip r:embed="rId2"/>
            <a:stretch>
              <a:fillRect l="0" t="0" r="0" b="0"/>
            </a:stretch>
          </a:blipFill>
        </p:spPr>
      </p:sp>
      <p:sp>
        <p:nvSpPr>
          <p:cNvPr name="TextBox 3" id="3"/>
          <p:cNvSpPr txBox="true"/>
          <p:nvPr/>
        </p:nvSpPr>
        <p:spPr>
          <a:xfrm rot="0">
            <a:off x="1028700" y="206997"/>
            <a:ext cx="5718363"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METHODOLOGY</a:t>
            </a:r>
          </a:p>
        </p:txBody>
      </p:sp>
      <p:sp>
        <p:nvSpPr>
          <p:cNvPr name="TextBox 4" id="4"/>
          <p:cNvSpPr txBox="true"/>
          <p:nvPr/>
        </p:nvSpPr>
        <p:spPr>
          <a:xfrm rot="0">
            <a:off x="683526" y="2311494"/>
            <a:ext cx="16237541" cy="2683711"/>
          </a:xfrm>
          <a:prstGeom prst="rect">
            <a:avLst/>
          </a:prstGeom>
        </p:spPr>
        <p:txBody>
          <a:bodyPr anchor="t" rtlCol="false" tIns="0" lIns="0" bIns="0" rIns="0">
            <a:spAutoFit/>
          </a:bodyPr>
          <a:lstStyle/>
          <a:p>
            <a:pPr algn="l">
              <a:lnSpc>
                <a:spcPts val="4328"/>
              </a:lnSpc>
            </a:pPr>
            <a:r>
              <a:rPr lang="en-US" sz="3092">
                <a:solidFill>
                  <a:srgbClr val="FFFFFF"/>
                </a:solidFill>
                <a:latin typeface="Open Sans"/>
                <a:ea typeface="Open Sans"/>
                <a:cs typeface="Open Sans"/>
                <a:sym typeface="Open Sans"/>
              </a:rPr>
              <a:t>The tools used:</a:t>
            </a:r>
          </a:p>
          <a:p>
            <a:pPr algn="l" marL="667580" indent="-333790" lvl="1">
              <a:lnSpc>
                <a:spcPts val="4328"/>
              </a:lnSpc>
              <a:buFont typeface="Arial"/>
              <a:buChar char="•"/>
            </a:pPr>
            <a:r>
              <a:rPr lang="en-US" sz="3092">
                <a:solidFill>
                  <a:srgbClr val="FFFFFF"/>
                </a:solidFill>
                <a:latin typeface="Open Sans"/>
                <a:ea typeface="Open Sans"/>
                <a:cs typeface="Open Sans"/>
                <a:sym typeface="Open Sans"/>
              </a:rPr>
              <a:t>Python</a:t>
            </a:r>
          </a:p>
          <a:p>
            <a:pPr algn="l" marL="667580" indent="-333790" lvl="1">
              <a:lnSpc>
                <a:spcPts val="4328"/>
              </a:lnSpc>
              <a:buFont typeface="Arial"/>
              <a:buChar char="•"/>
            </a:pPr>
            <a:r>
              <a:rPr lang="en-US" sz="3092">
                <a:solidFill>
                  <a:srgbClr val="FFFFFF"/>
                </a:solidFill>
                <a:latin typeface="Open Sans"/>
                <a:ea typeface="Open Sans"/>
                <a:cs typeface="Open Sans"/>
                <a:sym typeface="Open Sans"/>
              </a:rPr>
              <a:t>Google CoLab</a:t>
            </a:r>
          </a:p>
          <a:p>
            <a:pPr algn="l">
              <a:lnSpc>
                <a:spcPts val="4328"/>
              </a:lnSpc>
            </a:pPr>
          </a:p>
          <a:p>
            <a:pPr algn="l">
              <a:lnSpc>
                <a:spcPts val="4328"/>
              </a:lnSpc>
            </a:pPr>
            <a:r>
              <a:rPr lang="en-US" sz="3092">
                <a:solidFill>
                  <a:srgbClr val="FFFFFF"/>
                </a:solidFill>
                <a:latin typeface="Open Sans"/>
                <a:ea typeface="Open Sans"/>
                <a:cs typeface="Open Sans"/>
                <a:sym typeface="Open Sans"/>
              </a:rPr>
              <a:t>The Library used in Python: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Freeform 2" id="2"/>
          <p:cNvSpPr/>
          <p:nvPr/>
        </p:nvSpPr>
        <p:spPr>
          <a:xfrm flipH="false" flipV="false" rot="0">
            <a:off x="4027641" y="2292739"/>
            <a:ext cx="11744623" cy="6965561"/>
          </a:xfrm>
          <a:custGeom>
            <a:avLst/>
            <a:gdLst/>
            <a:ahLst/>
            <a:cxnLst/>
            <a:rect r="r" b="b" t="t" l="l"/>
            <a:pathLst>
              <a:path h="6965561" w="11744623">
                <a:moveTo>
                  <a:pt x="0" y="0"/>
                </a:moveTo>
                <a:lnTo>
                  <a:pt x="11744624" y="0"/>
                </a:lnTo>
                <a:lnTo>
                  <a:pt x="11744624" y="6965561"/>
                </a:lnTo>
                <a:lnTo>
                  <a:pt x="0" y="6965561"/>
                </a:lnTo>
                <a:lnTo>
                  <a:pt x="0" y="0"/>
                </a:lnTo>
                <a:close/>
              </a:path>
            </a:pathLst>
          </a:custGeom>
          <a:blipFill>
            <a:blip r:embed="rId2"/>
            <a:stretch>
              <a:fillRect l="0" t="0" r="0" b="0"/>
            </a:stretch>
          </a:blipFill>
        </p:spPr>
      </p:sp>
      <p:sp>
        <p:nvSpPr>
          <p:cNvPr name="TextBox 3" id="3"/>
          <p:cNvSpPr txBox="true"/>
          <p:nvPr/>
        </p:nvSpPr>
        <p:spPr>
          <a:xfrm rot="0">
            <a:off x="301134" y="208737"/>
            <a:ext cx="9598819" cy="1468477"/>
          </a:xfrm>
          <a:prstGeom prst="rect">
            <a:avLst/>
          </a:prstGeom>
        </p:spPr>
        <p:txBody>
          <a:bodyPr anchor="t" rtlCol="false" tIns="0" lIns="0" bIns="0" rIns="0">
            <a:spAutoFit/>
          </a:bodyPr>
          <a:lstStyle/>
          <a:p>
            <a:pPr algn="ctr">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TRAINING &amp; TESTING MODEL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Freeform 2" id="2"/>
          <p:cNvSpPr/>
          <p:nvPr/>
        </p:nvSpPr>
        <p:spPr>
          <a:xfrm flipH="false" flipV="false" rot="0">
            <a:off x="2877247" y="2130706"/>
            <a:ext cx="12533506" cy="7729549"/>
          </a:xfrm>
          <a:custGeom>
            <a:avLst/>
            <a:gdLst/>
            <a:ahLst/>
            <a:cxnLst/>
            <a:rect r="r" b="b" t="t" l="l"/>
            <a:pathLst>
              <a:path h="7729549" w="12533506">
                <a:moveTo>
                  <a:pt x="0" y="0"/>
                </a:moveTo>
                <a:lnTo>
                  <a:pt x="12533506" y="0"/>
                </a:lnTo>
                <a:lnTo>
                  <a:pt x="12533506" y="7729549"/>
                </a:lnTo>
                <a:lnTo>
                  <a:pt x="0" y="7729549"/>
                </a:lnTo>
                <a:lnTo>
                  <a:pt x="0" y="0"/>
                </a:lnTo>
                <a:close/>
              </a:path>
            </a:pathLst>
          </a:custGeom>
          <a:blipFill>
            <a:blip r:embed="rId2"/>
            <a:stretch>
              <a:fillRect l="0" t="0" r="0" b="0"/>
            </a:stretch>
          </a:blipFill>
        </p:spPr>
      </p:sp>
      <p:sp>
        <p:nvSpPr>
          <p:cNvPr name="TextBox 3" id="3"/>
          <p:cNvSpPr txBox="true"/>
          <p:nvPr/>
        </p:nvSpPr>
        <p:spPr>
          <a:xfrm rot="0">
            <a:off x="301134" y="208737"/>
            <a:ext cx="9598819" cy="1468477"/>
          </a:xfrm>
          <a:prstGeom prst="rect">
            <a:avLst/>
          </a:prstGeom>
        </p:spPr>
        <p:txBody>
          <a:bodyPr anchor="t" rtlCol="false" tIns="0" lIns="0" bIns="0" rIns="0">
            <a:spAutoFit/>
          </a:bodyPr>
          <a:lstStyle/>
          <a:p>
            <a:pPr algn="ctr">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TRAINING &amp; TESTING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Freeform 2" id="2"/>
          <p:cNvSpPr/>
          <p:nvPr/>
        </p:nvSpPr>
        <p:spPr>
          <a:xfrm flipH="false" flipV="false" rot="0">
            <a:off x="2946261" y="2220195"/>
            <a:ext cx="12395479" cy="7614366"/>
          </a:xfrm>
          <a:custGeom>
            <a:avLst/>
            <a:gdLst/>
            <a:ahLst/>
            <a:cxnLst/>
            <a:rect r="r" b="b" t="t" l="l"/>
            <a:pathLst>
              <a:path h="7614366" w="12395479">
                <a:moveTo>
                  <a:pt x="0" y="0"/>
                </a:moveTo>
                <a:lnTo>
                  <a:pt x="12395478" y="0"/>
                </a:lnTo>
                <a:lnTo>
                  <a:pt x="12395478" y="7614365"/>
                </a:lnTo>
                <a:lnTo>
                  <a:pt x="0" y="7614365"/>
                </a:lnTo>
                <a:lnTo>
                  <a:pt x="0" y="0"/>
                </a:lnTo>
                <a:close/>
              </a:path>
            </a:pathLst>
          </a:custGeom>
          <a:blipFill>
            <a:blip r:embed="rId2"/>
            <a:stretch>
              <a:fillRect l="0" t="0" r="0" b="0"/>
            </a:stretch>
          </a:blipFill>
        </p:spPr>
      </p:sp>
      <p:sp>
        <p:nvSpPr>
          <p:cNvPr name="TextBox 3" id="3"/>
          <p:cNvSpPr txBox="true"/>
          <p:nvPr/>
        </p:nvSpPr>
        <p:spPr>
          <a:xfrm rot="0">
            <a:off x="301134" y="208737"/>
            <a:ext cx="9598819" cy="1468477"/>
          </a:xfrm>
          <a:prstGeom prst="rect">
            <a:avLst/>
          </a:prstGeom>
        </p:spPr>
        <p:txBody>
          <a:bodyPr anchor="t" rtlCol="false" tIns="0" lIns="0" bIns="0" rIns="0">
            <a:spAutoFit/>
          </a:bodyPr>
          <a:lstStyle/>
          <a:p>
            <a:pPr algn="ctr">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TRAINING &amp; TESTING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110424" y="212830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575544" y="212830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040664" y="212830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91528" y="2987486"/>
            <a:ext cx="9597897" cy="4498058"/>
          </a:xfrm>
          <a:custGeom>
            <a:avLst/>
            <a:gdLst/>
            <a:ahLst/>
            <a:cxnLst/>
            <a:rect r="r" b="b" t="t" l="l"/>
            <a:pathLst>
              <a:path h="4498058" w="9597897">
                <a:moveTo>
                  <a:pt x="0" y="0"/>
                </a:moveTo>
                <a:lnTo>
                  <a:pt x="9597897" y="0"/>
                </a:lnTo>
                <a:lnTo>
                  <a:pt x="9597897" y="4498058"/>
                </a:lnTo>
                <a:lnTo>
                  <a:pt x="0" y="4498058"/>
                </a:lnTo>
                <a:lnTo>
                  <a:pt x="0" y="0"/>
                </a:lnTo>
                <a:close/>
              </a:path>
            </a:pathLst>
          </a:custGeom>
          <a:blipFill>
            <a:blip r:embed="rId5"/>
            <a:stretch>
              <a:fillRect l="0" t="0" r="0" b="0"/>
            </a:stretch>
          </a:blipFill>
        </p:spPr>
      </p:sp>
      <p:sp>
        <p:nvSpPr>
          <p:cNvPr name="Freeform 10" id="10"/>
          <p:cNvSpPr/>
          <p:nvPr/>
        </p:nvSpPr>
        <p:spPr>
          <a:xfrm flipH="false" flipV="false" rot="0">
            <a:off x="12786081" y="1478053"/>
            <a:ext cx="4788802" cy="3600277"/>
          </a:xfrm>
          <a:custGeom>
            <a:avLst/>
            <a:gdLst/>
            <a:ahLst/>
            <a:cxnLst/>
            <a:rect r="r" b="b" t="t" l="l"/>
            <a:pathLst>
              <a:path h="3600277" w="4788802">
                <a:moveTo>
                  <a:pt x="0" y="0"/>
                </a:moveTo>
                <a:lnTo>
                  <a:pt x="4788802" y="0"/>
                </a:lnTo>
                <a:lnTo>
                  <a:pt x="4788802" y="3600277"/>
                </a:lnTo>
                <a:lnTo>
                  <a:pt x="0" y="3600277"/>
                </a:lnTo>
                <a:lnTo>
                  <a:pt x="0" y="0"/>
                </a:lnTo>
                <a:close/>
              </a:path>
            </a:pathLst>
          </a:custGeom>
          <a:blipFill>
            <a:blip r:embed="rId6"/>
            <a:stretch>
              <a:fillRect l="0" t="0" r="0" b="0"/>
            </a:stretch>
          </a:blipFill>
        </p:spPr>
      </p:sp>
      <p:sp>
        <p:nvSpPr>
          <p:cNvPr name="Freeform 11" id="11"/>
          <p:cNvSpPr/>
          <p:nvPr/>
        </p:nvSpPr>
        <p:spPr>
          <a:xfrm flipH="false" flipV="false" rot="0">
            <a:off x="12821270" y="5712787"/>
            <a:ext cx="4753614" cy="3545513"/>
          </a:xfrm>
          <a:custGeom>
            <a:avLst/>
            <a:gdLst/>
            <a:ahLst/>
            <a:cxnLst/>
            <a:rect r="r" b="b" t="t" l="l"/>
            <a:pathLst>
              <a:path h="3545513" w="4753614">
                <a:moveTo>
                  <a:pt x="0" y="0"/>
                </a:moveTo>
                <a:lnTo>
                  <a:pt x="4753613" y="0"/>
                </a:lnTo>
                <a:lnTo>
                  <a:pt x="4753613" y="3545513"/>
                </a:lnTo>
                <a:lnTo>
                  <a:pt x="0" y="3545513"/>
                </a:lnTo>
                <a:lnTo>
                  <a:pt x="0" y="0"/>
                </a:lnTo>
                <a:close/>
              </a:path>
            </a:pathLst>
          </a:custGeom>
          <a:blipFill>
            <a:blip r:embed="rId7"/>
            <a:stretch>
              <a:fillRect l="0" t="0" r="0" b="0"/>
            </a:stretch>
          </a:blipFill>
        </p:spPr>
      </p:sp>
      <p:sp>
        <p:nvSpPr>
          <p:cNvPr name="TextBox 12" id="12"/>
          <p:cNvSpPr txBox="true"/>
          <p:nvPr/>
        </p:nvSpPr>
        <p:spPr>
          <a:xfrm rot="0">
            <a:off x="1297450" y="656351"/>
            <a:ext cx="5630748"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RESULT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206997"/>
            <a:ext cx="4499380"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CONCLUSION</a:t>
            </a:r>
          </a:p>
        </p:txBody>
      </p:sp>
      <p:sp>
        <p:nvSpPr>
          <p:cNvPr name="Freeform 7" id="7"/>
          <p:cNvSpPr/>
          <p:nvPr/>
        </p:nvSpPr>
        <p:spPr>
          <a:xfrm flipH="false" flipV="false" rot="0">
            <a:off x="1822649"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87770"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752890"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624063" y="2549400"/>
            <a:ext cx="16237541" cy="5168466"/>
          </a:xfrm>
          <a:prstGeom prst="rect">
            <a:avLst/>
          </a:prstGeom>
        </p:spPr>
        <p:txBody>
          <a:bodyPr anchor="t" rtlCol="false" tIns="0" lIns="0" bIns="0" rIns="0">
            <a:spAutoFit/>
          </a:bodyPr>
          <a:lstStyle/>
          <a:p>
            <a:pPr algn="l">
              <a:lnSpc>
                <a:spcPts val="4328"/>
              </a:lnSpc>
            </a:pPr>
            <a:r>
              <a:rPr lang="en-US" sz="3092">
                <a:solidFill>
                  <a:srgbClr val="FFFFFF"/>
                </a:solidFill>
                <a:latin typeface="Open Sans"/>
                <a:ea typeface="Open Sans"/>
                <a:cs typeface="Open Sans"/>
                <a:sym typeface="Open Sans"/>
              </a:rPr>
              <a:t>This study used machine learning and deep learning to suggest an effective way to identify and mitigate ransomware utilizing the FREEDOM system [5]. The three Machine Deep Learning algorithms Random Forest Classifier, KNN, and CNN were used in this detection approach to assess the success rate of each method's similarity identification on the gathered ransomware assault. For this specific ransomware attack, all three detection techniques yielded extremely high similarity detection findings (over 89%). The algorithm's accuracy is 90%, 97%, and 98%, in that order.In comparison to the other two Random Forest Classifier and KNN, the CNN yielded comparatively superior outcomes.This suggested CNN is a quick and effective way to identify the attack.</a:t>
            </a:r>
          </a:p>
          <a:p>
            <a:pPr algn="l">
              <a:lnSpc>
                <a:spcPts val="2368"/>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59330" y="397595"/>
            <a:ext cx="5780443"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REFERENCES</a:t>
            </a:r>
          </a:p>
        </p:txBody>
      </p:sp>
      <p:sp>
        <p:nvSpPr>
          <p:cNvPr name="Freeform 7" id="7"/>
          <p:cNvSpPr/>
          <p:nvPr/>
        </p:nvSpPr>
        <p:spPr>
          <a:xfrm flipH="false" flipV="false" rot="0">
            <a:off x="11209402" y="24007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674522" y="24007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2139643" y="24007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359330" y="2295137"/>
            <a:ext cx="16728693" cy="7948851"/>
          </a:xfrm>
          <a:prstGeom prst="rect">
            <a:avLst/>
          </a:prstGeom>
        </p:spPr>
        <p:txBody>
          <a:bodyPr anchor="t" rtlCol="false" tIns="0" lIns="0" bIns="0" rIns="0">
            <a:spAutoFit/>
          </a:bodyPr>
          <a:lstStyle/>
          <a:p>
            <a:pPr algn="l">
              <a:lnSpc>
                <a:spcPts val="2874"/>
              </a:lnSpc>
            </a:pPr>
            <a:r>
              <a:rPr lang="en-US" sz="2053">
                <a:solidFill>
                  <a:srgbClr val="FFFFFF"/>
                </a:solidFill>
                <a:latin typeface="Canva Sans"/>
                <a:ea typeface="Canva Sans"/>
                <a:cs typeface="Canva Sans"/>
                <a:sym typeface="Canva Sans"/>
              </a:rPr>
              <a:t>[1] Jian Du, Sajid Hussain Raza, Mudassar Ahmad , Iqbal Alam , Saadat Hanif Dar, and Muhammad Asif Habib. Digital Forensics as Advanced Ransomware Pre-Attack Detection Algorithm for Endpoint Data Protection. Security and Communication Networks,Vol. 2022. Availability: </a:t>
            </a:r>
            <a:r>
              <a:rPr lang="en-US" sz="2053" u="sng">
                <a:solidFill>
                  <a:srgbClr val="FFFFFF"/>
                </a:solidFill>
                <a:latin typeface="Canva Sans"/>
                <a:ea typeface="Canva Sans"/>
                <a:cs typeface="Canva Sans"/>
                <a:sym typeface="Canva Sans"/>
                <a:hlinkClick r:id="rId5" tooltip="https://dl.acm.org/doi/abs/10.1155/2022/1424638"/>
              </a:rPr>
              <a:t>https://dl.acm.org/doi/abs/10.1155/2022/1424638</a:t>
            </a:r>
          </a:p>
          <a:p>
            <a:pPr algn="l">
              <a:lnSpc>
                <a:spcPts val="2874"/>
              </a:lnSpc>
            </a:pPr>
          </a:p>
          <a:p>
            <a:pPr algn="l">
              <a:lnSpc>
                <a:spcPts val="2874"/>
              </a:lnSpc>
            </a:pPr>
            <a:r>
              <a:rPr lang="en-US" sz="2053">
                <a:solidFill>
                  <a:srgbClr val="FFFFFF"/>
                </a:solidFill>
                <a:latin typeface="Canva Sans"/>
                <a:ea typeface="Canva Sans"/>
                <a:cs typeface="Canva Sans"/>
                <a:sym typeface="Canva Sans"/>
              </a:rPr>
              <a:t>[2] Chandra Thapa1(B), Kallol Krishna Karmakar2, Alberto Huertas Celdran3,Seyit Camtepe1, Vijay Varadharajan2, and Surya Nepal1,4.FedDICE: A Ransomware Spread Detection in a Distributed Integrated Clinical Environment Using Federated Learning and SDN Based Mitigation.Quality, Reliability, Security and Robustness in Heterogeneous Systems Conference paper. Availability: </a:t>
            </a:r>
            <a:r>
              <a:rPr lang="en-US" sz="2053" u="sng">
                <a:solidFill>
                  <a:srgbClr val="FFFFFF"/>
                </a:solidFill>
                <a:latin typeface="Canva Sans"/>
                <a:ea typeface="Canva Sans"/>
                <a:cs typeface="Canva Sans"/>
                <a:sym typeface="Canva Sans"/>
                <a:hlinkClick r:id="rId6" tooltip="https://link.springer.com/chapter/10.1007/978-3-030-91424-0_1"/>
              </a:rPr>
              <a:t>https://link.springer.com/chapter/10.1007/978-3-030-91424-0_1</a:t>
            </a:r>
          </a:p>
          <a:p>
            <a:pPr algn="l">
              <a:lnSpc>
                <a:spcPts val="2874"/>
              </a:lnSpc>
            </a:pPr>
          </a:p>
          <a:p>
            <a:pPr algn="l">
              <a:lnSpc>
                <a:spcPts val="2874"/>
              </a:lnSpc>
            </a:pPr>
            <a:r>
              <a:rPr lang="en-US" sz="2053">
                <a:solidFill>
                  <a:srgbClr val="FFFFFF"/>
                </a:solidFill>
                <a:latin typeface="Canva Sans"/>
                <a:ea typeface="Canva Sans"/>
                <a:cs typeface="Canva Sans"/>
                <a:sym typeface="Canva Sans"/>
              </a:rPr>
              <a:t>[3] Rusydi Umar1, Imam Riadi2, Ridho Surya Kusuma. Mitigating Sodinokibi Ransomware Attack on Cloud Network Using Software-DefinedNetworking (SDN). International Journal of Safety and Security Engineering. </a:t>
            </a:r>
            <a:r>
              <a:rPr lang="en-US" sz="2053" u="sng">
                <a:solidFill>
                  <a:srgbClr val="FFFFFF"/>
                </a:solidFill>
                <a:latin typeface="Canva Sans"/>
                <a:ea typeface="Canva Sans"/>
                <a:cs typeface="Canva Sans"/>
                <a:sym typeface="Canva Sans"/>
                <a:hlinkClick r:id="rId7" tooltip="https://www.iieta.org/journals/ijsse/paper/10.18280/ijsse.110304"/>
              </a:rPr>
              <a:t>https://www.iieta.org/journals/ijsse/paper/10.18280/ijsse.110304</a:t>
            </a:r>
          </a:p>
          <a:p>
            <a:pPr algn="l">
              <a:lnSpc>
                <a:spcPts val="2874"/>
              </a:lnSpc>
            </a:pPr>
          </a:p>
          <a:p>
            <a:pPr algn="l">
              <a:lnSpc>
                <a:spcPts val="2874"/>
              </a:lnSpc>
            </a:pPr>
            <a:r>
              <a:rPr lang="en-US" sz="2053">
                <a:solidFill>
                  <a:srgbClr val="FFFFFF"/>
                </a:solidFill>
                <a:latin typeface="Canva Sans"/>
                <a:ea typeface="Canva Sans"/>
                <a:cs typeface="Canva Sans"/>
                <a:sym typeface="Canva Sans"/>
              </a:rPr>
              <a:t>[4] Nitin Naik, Paul Jenkins1 and Nick Savage. A Ransomware Detection Method Using Fuzzy Hashing for Mitigating the Risk of Occlusion of Information Systems. IEEE International Symposium on Systems Engineering (ISSE). Availability: </a:t>
            </a:r>
            <a:r>
              <a:rPr lang="en-US" sz="2053" u="sng">
                <a:solidFill>
                  <a:srgbClr val="FFFFFF"/>
                </a:solidFill>
                <a:latin typeface="Canva Sans"/>
                <a:ea typeface="Canva Sans"/>
                <a:cs typeface="Canva Sans"/>
                <a:sym typeface="Canva Sans"/>
                <a:hlinkClick r:id="rId8" tooltip="https://ieeexplore.ieee.org/document/8984540"/>
              </a:rPr>
              <a:t>https://ieeexplore.ieee.org/document/8984540</a:t>
            </a:r>
          </a:p>
          <a:p>
            <a:pPr algn="l">
              <a:lnSpc>
                <a:spcPts val="2874"/>
              </a:lnSpc>
            </a:pPr>
          </a:p>
          <a:p>
            <a:pPr algn="l">
              <a:lnSpc>
                <a:spcPts val="2874"/>
              </a:lnSpc>
            </a:pPr>
            <a:r>
              <a:rPr lang="en-US" sz="2053">
                <a:solidFill>
                  <a:srgbClr val="FFFFFF"/>
                </a:solidFill>
                <a:latin typeface="Canva Sans"/>
                <a:ea typeface="Canva Sans"/>
                <a:cs typeface="Canva Sans"/>
                <a:sym typeface="Canva Sans"/>
              </a:rPr>
              <a:t>[5] Joshua Morris1, Dan Lin1, and Marcellus Smith2. Fight Virus Like a Virus: A New Defense Method Against File-Encrypting Ransomware. Journal of ResearchGate. Avaibility: </a:t>
            </a:r>
            <a:r>
              <a:rPr lang="en-US" sz="2053" u="sng">
                <a:solidFill>
                  <a:srgbClr val="FFFFFF"/>
                </a:solidFill>
                <a:latin typeface="Canva Sans"/>
                <a:ea typeface="Canva Sans"/>
                <a:cs typeface="Canva Sans"/>
                <a:sym typeface="Canva Sans"/>
                <a:hlinkClick r:id="rId9" tooltip="https://www.researchgate.net/publication/350311509_Fight_Virus_Like_a_Virus_A_New_Defense_Method_Against_File-Encrypting_Ransomware/references"/>
              </a:rPr>
              <a:t>https://www.researchgate.net/publication/350311509_Fight_Virus_Like_a_Virus_A_New_Defense_Method_Against_File-Encrypting_Ransomware/references</a:t>
            </a:r>
          </a:p>
          <a:p>
            <a:pPr algn="l">
              <a:lnSpc>
                <a:spcPts val="2874"/>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081D"/>
        </a:solidFill>
      </p:bgPr>
    </p:bg>
    <p:spTree>
      <p:nvGrpSpPr>
        <p:cNvPr id="1" name=""/>
        <p:cNvGrpSpPr/>
        <p:nvPr/>
      </p:nvGrpSpPr>
      <p:grpSpPr>
        <a:xfrm>
          <a:off x="0" y="0"/>
          <a:ext cx="0" cy="0"/>
          <a:chOff x="0" y="0"/>
          <a:chExt cx="0" cy="0"/>
        </a:xfrm>
      </p:grpSpPr>
      <p:sp>
        <p:nvSpPr>
          <p:cNvPr name="TextBox 2" id="2"/>
          <p:cNvSpPr txBox="true"/>
          <p:nvPr/>
        </p:nvSpPr>
        <p:spPr>
          <a:xfrm rot="0">
            <a:off x="1028700" y="206997"/>
            <a:ext cx="4499380" cy="1471955"/>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APPENDIX</a:t>
            </a:r>
          </a:p>
        </p:txBody>
      </p:sp>
      <p:sp>
        <p:nvSpPr>
          <p:cNvPr name="Freeform 3" id="3"/>
          <p:cNvSpPr/>
          <p:nvPr/>
        </p:nvSpPr>
        <p:spPr>
          <a:xfrm flipH="false" flipV="false" rot="0">
            <a:off x="1822649"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87770"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752890"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24063" y="2539875"/>
            <a:ext cx="17174697" cy="2846070"/>
          </a:xfrm>
          <a:prstGeom prst="rect">
            <a:avLst/>
          </a:prstGeom>
        </p:spPr>
        <p:txBody>
          <a:bodyPr anchor="t" rtlCol="false" tIns="0" lIns="0" bIns="0" rIns="0">
            <a:spAutoFit/>
          </a:bodyPr>
          <a:lstStyle/>
          <a:p>
            <a:pPr algn="l">
              <a:lnSpc>
                <a:spcPts val="3779"/>
              </a:lnSpc>
            </a:pPr>
            <a:r>
              <a:rPr lang="en-US" sz="2699">
                <a:solidFill>
                  <a:srgbClr val="FFFFFF"/>
                </a:solidFill>
                <a:latin typeface="Open Sans"/>
                <a:ea typeface="Open Sans"/>
                <a:cs typeface="Open Sans"/>
                <a:sym typeface="Open Sans"/>
              </a:rPr>
              <a:t>The deep learning and machine learning code:</a:t>
            </a:r>
          </a:p>
          <a:p>
            <a:pPr algn="l">
              <a:lnSpc>
                <a:spcPts val="3779"/>
              </a:lnSpc>
            </a:pPr>
            <a:r>
              <a:rPr lang="en-US" sz="2699" u="sng">
                <a:solidFill>
                  <a:srgbClr val="FFFFFF"/>
                </a:solidFill>
                <a:latin typeface="Open Sans"/>
                <a:ea typeface="Open Sans"/>
                <a:cs typeface="Open Sans"/>
                <a:sym typeface="Open Sans"/>
                <a:hlinkClick r:id="rId4" tooltip="https://colab.research.google.com/drive/1cc5QfY_e1QvkR55P89Xi4nUYstxgh_mT?usp=sharing"/>
              </a:rPr>
              <a:t>https://colab.research.google.com/drive/1cc5QfY_e1QvkR55P89Xi4nUYstxgh_mT?usp=sharing</a:t>
            </a:r>
          </a:p>
          <a:p>
            <a:pPr algn="l">
              <a:lnSpc>
                <a:spcPts val="3779"/>
              </a:lnSpc>
            </a:pPr>
          </a:p>
          <a:p>
            <a:pPr algn="l">
              <a:lnSpc>
                <a:spcPts val="3779"/>
              </a:lnSpc>
            </a:pPr>
            <a:r>
              <a:rPr lang="en-US" sz="2699">
                <a:solidFill>
                  <a:srgbClr val="FFFFFF"/>
                </a:solidFill>
                <a:latin typeface="Open Sans"/>
                <a:ea typeface="Open Sans"/>
                <a:cs typeface="Open Sans"/>
                <a:sym typeface="Open Sans"/>
              </a:rPr>
              <a:t>The Dataset:</a:t>
            </a:r>
          </a:p>
          <a:p>
            <a:pPr algn="l">
              <a:lnSpc>
                <a:spcPts val="3779"/>
              </a:lnSpc>
            </a:pPr>
            <a:r>
              <a:rPr lang="en-US" sz="2699" u="sng">
                <a:solidFill>
                  <a:srgbClr val="FFFFFF"/>
                </a:solidFill>
                <a:latin typeface="Open Sans"/>
                <a:ea typeface="Open Sans"/>
                <a:cs typeface="Open Sans"/>
                <a:sym typeface="Open Sans"/>
                <a:hlinkClick r:id="rId5" tooltip="https://www.kaggle.com/datasets/amdj3dax/ransomware-detection-data-set"/>
              </a:rPr>
              <a:t>https://www.kaggle.com/datasets/amdj3dax/ransomware-detection-data-set</a:t>
            </a:r>
            <a:r>
              <a:rPr lang="en-US" sz="2699">
                <a:solidFill>
                  <a:srgbClr val="FFFFFF"/>
                </a:solidFill>
                <a:latin typeface="Open Sans"/>
                <a:ea typeface="Open Sans"/>
                <a:cs typeface="Open Sans"/>
                <a:sym typeface="Open Sans"/>
              </a:rPr>
              <a:t> .</a:t>
            </a:r>
          </a:p>
          <a:p>
            <a:pPr algn="l">
              <a:lnSpc>
                <a:spcPts val="377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5400000">
            <a:off x="17631481" y="8597471"/>
            <a:ext cx="924223" cy="397435"/>
            <a:chOff x="0" y="0"/>
            <a:chExt cx="1347239" cy="579341"/>
          </a:xfrm>
        </p:grpSpPr>
        <p:sp>
          <p:nvSpPr>
            <p:cNvPr name="Freeform 4" id="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5" id="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43386"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061681" y="3220694"/>
            <a:ext cx="10164638" cy="3464612"/>
          </a:xfrm>
          <a:prstGeom prst="rect">
            <a:avLst/>
          </a:prstGeom>
        </p:spPr>
        <p:txBody>
          <a:bodyPr anchor="t" rtlCol="false" tIns="0" lIns="0" bIns="0" rIns="0">
            <a:spAutoFit/>
          </a:bodyPr>
          <a:lstStyle/>
          <a:p>
            <a:pPr algn="ctr">
              <a:lnSpc>
                <a:spcPts val="28402"/>
              </a:lnSpc>
              <a:spcBef>
                <a:spcPct val="0"/>
              </a:spcBef>
            </a:pPr>
            <a:r>
              <a:rPr lang="en-US" sz="20287">
                <a:solidFill>
                  <a:srgbClr val="FFFFFF"/>
                </a:solidFill>
                <a:latin typeface="TT Octosquares Compressed"/>
                <a:ea typeface="TT Octosquares Compressed"/>
                <a:cs typeface="TT Octosquares Compressed"/>
                <a:sym typeface="TT Octosquares Compressed"/>
              </a:rPr>
              <a:t>THANK YOU</a:t>
            </a:r>
          </a:p>
        </p:txBody>
      </p:sp>
      <p:sp>
        <p:nvSpPr>
          <p:cNvPr name="Freeform 8" id="8"/>
          <p:cNvSpPr/>
          <p:nvPr/>
        </p:nvSpPr>
        <p:spPr>
          <a:xfrm flipH="false" flipV="false" rot="0">
            <a:off x="2105520"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390081"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10800000">
            <a:off x="14226319"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10800000">
            <a:off x="15323726"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16268205"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DAGE87hUb1Q</dc:identifier>
  <dcterms:modified xsi:type="dcterms:W3CDTF">2011-08-01T06:04:30Z</dcterms:modified>
  <cp:revision>1</cp:revision>
  <dc:title>Blue Modern Security and Technology Presentation</dc:title>
</cp:coreProperties>
</file>